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F9CE2-8486-43E4-B961-E034C47FF3C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297AF-8911-49E5-A5CE-6832D33517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297AF-8911-49E5-A5CE-6832D335171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BDB4A-1246-4829-BB28-697C5C652F8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BB48A-5C1F-4D10-B4FF-46A42061D8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-198120"/>
            <a:ext cx="12496799" cy="7223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538585">
            <a:off x="1219911" y="1060517"/>
            <a:ext cx="9889535" cy="725283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866928"/>
              </a:avLst>
            </a:prstTxWarp>
            <a:spAutoFit/>
          </a:bodyPr>
          <a:lstStyle/>
          <a:p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gerian" panose="04020705040A02060702" pitchFamily="82" charset="0"/>
              </a:rPr>
              <a:t>Student burnout detection system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lgerian" panose="04020705040A02060702" pitchFamily="82" charset="0"/>
            </a:endParaRPr>
          </a:p>
          <a:p>
            <a:pPr algn="l"/>
            <a:r>
              <a:rPr lang="en-US" sz="2400" b="1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Algerian" panose="04020705040A02060702" pitchFamily="82" charset="0"/>
              </a:rPr>
              <a:t>Vellore Institute of Technology , vellore campus</a:t>
            </a:r>
            <a:endParaRPr lang="en-US" sz="2400" b="1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8863" y="3874168"/>
            <a:ext cx="33528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Bernard MT Condensed" panose="02050806060905020404" pitchFamily="18" charset="0"/>
              </a:rPr>
              <a:t>Data-driven Student Wellbeing Solution</a:t>
            </a:r>
            <a:endParaRPr lang="en-US" sz="3600" dirty="0">
              <a:solidFill>
                <a:schemeClr val="bg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Bernard MT Condensed" panose="020508060609050204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10864" y="3291636"/>
            <a:ext cx="3633536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>
                <a:ln w="10160">
                  <a:solidFill>
                    <a:srgbClr val="00B050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2800" b="1" dirty="0">
                <a:ln w="10160">
                  <a:solidFill>
                    <a:srgbClr val="00B050"/>
                  </a:solidFill>
                  <a:prstDash val="solid"/>
                </a:ln>
                <a:solidFill>
                  <a:schemeClr val="bg2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The BugSlayers </a:t>
            </a:r>
            <a:endParaRPr lang="en-US" b="1" dirty="0">
              <a:ln w="10160">
                <a:solidFill>
                  <a:srgbClr val="00B050"/>
                </a:solidFill>
                <a:prstDash val="solid"/>
              </a:ln>
              <a:solidFill>
                <a:schemeClr val="bg2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>
              <a:lnSpc>
                <a:spcPct val="200000"/>
              </a:lnSpc>
            </a:pPr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Rounded MT Bold" panose="020F0704030504030204" pitchFamily="34" charset="0"/>
              </a:rPr>
              <a:t>Sanju D R P</a:t>
            </a:r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Rounded MT Bold" panose="020F0704030504030204" pitchFamily="34" charset="0"/>
              </a:rPr>
              <a:t>Prarthna</a:t>
            </a:r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Rounded MT Bold" panose="020F0704030504030204" pitchFamily="34" charset="0"/>
              </a:rPr>
              <a:t> S V</a:t>
            </a:r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Rounded MT Bold" panose="020F0704030504030204" pitchFamily="34" charset="0"/>
              </a:rPr>
              <a:t>Vijesh</a:t>
            </a:r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Rounded MT Bold" panose="020F0704030504030204" pitchFamily="34" charset="0"/>
              </a:rPr>
              <a:t> M</a:t>
            </a:r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Rounded MT Bold" panose="020F0704030504030204" pitchFamily="34" charset="0"/>
              </a:rPr>
              <a:t>Harihara Subramanian V</a:t>
            </a:r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Rounded MT Bold" panose="020F0704030504030204" pitchFamily="34" charset="0"/>
              </a:rPr>
              <a:t>Jaijitesh</a:t>
            </a:r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Rounded MT Bold" panose="020F0704030504030204" pitchFamily="34" charset="0"/>
              </a:rPr>
              <a:t> Suryaprakash J</a:t>
            </a:r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	</a:t>
            </a:r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67255" y="152964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6566" y="64168"/>
            <a:ext cx="44276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Problem </a:t>
            </a:r>
            <a:r>
              <a:rPr lang="en-US" sz="4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Statment</a:t>
            </a:r>
            <a:endParaRPr lang="en-US" sz="4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7" name="Oval 6"/>
          <p:cNvSpPr/>
          <p:nvPr/>
        </p:nvSpPr>
        <p:spPr>
          <a:xfrm>
            <a:off x="4146884" y="833610"/>
            <a:ext cx="3745831" cy="93846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Burnout impacts student performance and health</a:t>
            </a:r>
            <a:endParaRPr lang="en-US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430" y="5952019"/>
            <a:ext cx="11389894" cy="369332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Traditional academic evaluation fails to capture students’ psychological stress levels.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Algerian" panose="04020705040A02060702" pitchFamily="82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12820" y="1677373"/>
            <a:ext cx="2831434" cy="15320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>
            <a:prstTxWarp prst="textPlain">
              <a:avLst/>
            </a:prstTxWarp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en-US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Academic pressure &amp; learning patterns</a:t>
            </a:r>
            <a:endParaRPr lang="en-US" dirty="0">
              <a:ln>
                <a:solidFill>
                  <a:srgbClr val="FFFF00"/>
                </a:solidFill>
              </a:ln>
              <a:solidFill>
                <a:srgbClr val="FFFF00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Oval 10"/>
          <p:cNvSpPr/>
          <p:nvPr/>
        </p:nvSpPr>
        <p:spPr>
          <a:xfrm>
            <a:off x="2494545" y="3952067"/>
            <a:ext cx="2991855" cy="153202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>
            <a:prstTxWarp prst="textPlain">
              <a:avLst/>
            </a:prstTxWarp>
          </a:bodyPr>
          <a:lstStyle/>
          <a:p>
            <a:pPr algn="ctr"/>
            <a:r>
              <a:rPr lang="en-US" sz="24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Emotional &amp; cognitive state</a:t>
            </a:r>
            <a:endParaRPr lang="en-US" sz="2400" dirty="0">
              <a:ln>
                <a:solidFill>
                  <a:srgbClr val="FFFF00"/>
                </a:solidFill>
              </a:ln>
              <a:solidFill>
                <a:srgbClr val="FFFF00"/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" name="Oval 11"/>
          <p:cNvSpPr/>
          <p:nvPr/>
        </p:nvSpPr>
        <p:spPr>
          <a:xfrm>
            <a:off x="7078579" y="3883351"/>
            <a:ext cx="2923838" cy="15320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numCol="3" rtlCol="0" anchor="ctr">
            <a:prstTxWarp prst="textPlain">
              <a:avLst/>
            </a:prstTxWarp>
          </a:bodyPr>
          <a:lstStyle/>
          <a:p>
            <a:pPr algn="ctr"/>
            <a:endParaRPr lang="en-US" sz="2000" dirty="0">
              <a:ln>
                <a:solidFill>
                  <a:srgbClr val="FFFF00"/>
                </a:solidFill>
              </a:ln>
              <a:solidFill>
                <a:srgbClr val="FFFF00"/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9047747" y="1885526"/>
            <a:ext cx="2662990" cy="13640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Social influence</a:t>
            </a:r>
            <a:endParaRPr lang="en-US" sz="3200" dirty="0">
              <a:ln>
                <a:solidFill>
                  <a:srgbClr val="FFFF00"/>
                </a:solidFill>
              </a:ln>
              <a:solidFill>
                <a:srgbClr val="FFFF00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69391" y="264720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8762" y="4283207"/>
            <a:ext cx="2783471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Physical Health Impact</a:t>
            </a:r>
            <a:endParaRPr lang="en-US" sz="3200" b="1" dirty="0">
              <a:solidFill>
                <a:srgbClr val="FFFF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77" y="-87085"/>
            <a:ext cx="12248147" cy="70654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91543" y="402771"/>
            <a:ext cx="585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Target Audience</a:t>
            </a:r>
            <a:endParaRPr lang="en-US" sz="4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5" name="Diamond 4"/>
          <p:cNvSpPr/>
          <p:nvPr/>
        </p:nvSpPr>
        <p:spPr>
          <a:xfrm>
            <a:off x="169817" y="818269"/>
            <a:ext cx="5669280" cy="4992862"/>
          </a:xfrm>
          <a:prstGeom prst="diamond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>
            <a:prstTxWarp prst="textArchUp">
              <a:avLst/>
            </a:prstTxWarp>
          </a:bodyPr>
          <a:lstStyle/>
          <a:p>
            <a:pPr algn="ctr"/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Primary Target Audience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Diamond 6"/>
          <p:cNvSpPr/>
          <p:nvPr/>
        </p:nvSpPr>
        <p:spPr>
          <a:xfrm>
            <a:off x="5839097" y="669551"/>
            <a:ext cx="6217920" cy="4846320"/>
          </a:xfrm>
          <a:prstGeom prst="diamond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>
            <a:prstTxWarp prst="textArchUp">
              <a:avLst>
                <a:gd name="adj" fmla="val 10972031"/>
              </a:avLst>
            </a:prstTxWarp>
          </a:bodyPr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Secondary Target Audience</a:t>
            </a:r>
            <a:endParaRPr 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62743" y="3265714"/>
            <a:ext cx="3777343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School Students</a:t>
            </a:r>
            <a:endParaRPr lang="en-US" sz="28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  <a:latin typeface="Arial Rounded MT Bold" panose="020F070403050403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College Students</a:t>
            </a:r>
            <a:endParaRPr lang="en-US" sz="28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  <a:latin typeface="Arial Rounded MT Bold" panose="020F070403050403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Competitive</a:t>
            </a:r>
            <a:r>
              <a:rPr lang="en-US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 Exam Aspirants</a:t>
            </a:r>
            <a:endParaRPr lang="en-US" sz="28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4256314" cy="22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1.Class Teacher</a:t>
            </a:r>
            <a:endParaRPr lang="en-US" sz="32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2.Academic Mentor</a:t>
            </a:r>
            <a:endParaRPr lang="en-US" sz="32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3. Course Coordinator</a:t>
            </a:r>
            <a:endParaRPr lang="en-US" sz="32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44240" y="143458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71" y="-156865"/>
            <a:ext cx="12289971" cy="72009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11277" y="530942"/>
            <a:ext cx="5987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Technology Stack </a:t>
            </a:r>
            <a:endParaRPr lang="en-US" sz="4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3" name="Flowchart: Off-page Connector 2"/>
          <p:cNvSpPr/>
          <p:nvPr/>
        </p:nvSpPr>
        <p:spPr>
          <a:xfrm>
            <a:off x="693174" y="1877961"/>
            <a:ext cx="2812026" cy="3441291"/>
          </a:xfrm>
          <a:prstGeom prst="flowChartOffpageConnector">
            <a:avLst/>
          </a:prstGeom>
          <a:solidFill>
            <a:schemeClr val="accent5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342900" indent="-342900" algn="ctr">
              <a:buAutoNum type="arabicPeriod"/>
            </a:pPr>
            <a:r>
              <a:rPr lang="en-US" sz="2400" b="1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accent4"/>
                </a:solidFill>
              </a:rPr>
              <a:t>Online Forms &amp; Surveys</a:t>
            </a:r>
            <a:endParaRPr lang="en-US" sz="2400" b="1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accent4"/>
              </a:solidFill>
            </a:endParaRPr>
          </a:p>
          <a:p>
            <a:pPr marL="342900" indent="-342900" algn="ctr">
              <a:buAutoNum type="arabicPeriod"/>
            </a:pPr>
            <a:r>
              <a:rPr lang="en-US" sz="2400" b="1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accent4"/>
                </a:solidFill>
              </a:rPr>
              <a:t>Manual &amp; Automated Data Entry</a:t>
            </a:r>
            <a:endParaRPr lang="en-US" sz="2400" b="1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accent4"/>
              </a:solidFill>
            </a:endParaRPr>
          </a:p>
        </p:txBody>
      </p:sp>
      <p:sp>
        <p:nvSpPr>
          <p:cNvPr id="4" name="Flowchart: Off-page Connector 3"/>
          <p:cNvSpPr/>
          <p:nvPr/>
        </p:nvSpPr>
        <p:spPr>
          <a:xfrm>
            <a:off x="4734233" y="1877961"/>
            <a:ext cx="2812026" cy="3441291"/>
          </a:xfrm>
          <a:prstGeom prst="flowChartOffpageConnector">
            <a:avLst/>
          </a:prstGeom>
          <a:solidFill>
            <a:schemeClr val="accent5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1. Web App: HTML, CSS, JavaScript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2. Frameworks: React.js / Angular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3. UI Libraries: Bootstrap / Tailwind CSS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4. Dashboards: Charts.js / Recharts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sp>
        <p:nvSpPr>
          <p:cNvPr id="6" name="Flowchart: Off-page Connector 5"/>
          <p:cNvSpPr/>
          <p:nvPr/>
        </p:nvSpPr>
        <p:spPr>
          <a:xfrm>
            <a:off x="8849034" y="1877961"/>
            <a:ext cx="2812026" cy="3441291"/>
          </a:xfrm>
          <a:prstGeom prst="flowChartOffpageConnector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1. Runtime: Node.js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2. Framework: Express.js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3. API Type: RESTful APIs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4. Authentication: JWT / OAuth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sp>
        <p:nvSpPr>
          <p:cNvPr id="7" name="Scroll: Horizontal 6"/>
          <p:cNvSpPr/>
          <p:nvPr/>
        </p:nvSpPr>
        <p:spPr>
          <a:xfrm>
            <a:off x="693174" y="5525728"/>
            <a:ext cx="2841523" cy="934065"/>
          </a:xfrm>
          <a:prstGeom prst="horizontalScroll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Data Sources &amp; Integration</a:t>
            </a:r>
            <a:endParaRPr lang="en-US" sz="2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Scroll: Horizontal 7"/>
          <p:cNvSpPr/>
          <p:nvPr/>
        </p:nvSpPr>
        <p:spPr>
          <a:xfrm>
            <a:off x="4896464" y="5488646"/>
            <a:ext cx="2841523" cy="934064"/>
          </a:xfrm>
          <a:prstGeom prst="horizontalScroll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Frontend</a:t>
            </a:r>
            <a:endParaRPr lang="en-US" sz="28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0" name="Scroll: Horizontal 9"/>
          <p:cNvSpPr/>
          <p:nvPr/>
        </p:nvSpPr>
        <p:spPr>
          <a:xfrm>
            <a:off x="8849034" y="5525729"/>
            <a:ext cx="2841523" cy="934064"/>
          </a:xfrm>
          <a:prstGeom prst="horizontalScroll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Backend</a:t>
            </a:r>
            <a:endParaRPr lang="en-US" sz="3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Forms &amp; Surveys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(stress, mood, burnout questionnaires)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&amp; Automated Data Entry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-156865"/>
            <a:ext cx="42105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React.js / Angular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Libraries: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Bootstrap / Tailwind CSS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26823" y="73967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16" y="-117987"/>
            <a:ext cx="12349316" cy="72562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8929" y="344129"/>
            <a:ext cx="54470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System Workflow</a:t>
            </a:r>
            <a:endParaRPr lang="en-US" sz="4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2904" y="2574085"/>
            <a:ext cx="2595716" cy="3934282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Collect</a:t>
            </a:r>
            <a:endParaRPr lang="en-US" sz="4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Attendance, sleep patterns, physical activity &amp; academic signals</a:t>
            </a:r>
            <a:endParaRPr 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3421" y="1927754"/>
            <a:ext cx="2448231" cy="458061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</a:rPr>
              <a:t>Process</a:t>
            </a:r>
            <a:endParaRPr lang="en-US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Local machine learning inference performed directly on-device</a:t>
            </a:r>
            <a:endParaRPr 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46839" y="3225920"/>
            <a:ext cx="2772695" cy="3287951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Detect</a:t>
            </a:r>
            <a:endParaRPr lang="en-US" sz="4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Real-time burnout risk scoring based on federated model</a:t>
            </a:r>
            <a:endParaRPr 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80090" y="3229746"/>
            <a:ext cx="2989006" cy="3287951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Intervene</a:t>
            </a:r>
            <a:endParaRPr lang="en-US" sz="4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Personalized nudges, resource recommendations, or escalation</a:t>
            </a:r>
            <a:endParaRPr 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1179872" y="2104625"/>
            <a:ext cx="481780" cy="480150"/>
          </a:xfrm>
          <a:prstGeom prst="flowChartConnector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</a:t>
            </a:r>
            <a:endParaRPr lang="en-US" sz="3600" dirty="0"/>
          </a:p>
        </p:txBody>
      </p:sp>
      <p:sp>
        <p:nvSpPr>
          <p:cNvPr id="14" name="Flowchart: Connector 13"/>
          <p:cNvSpPr/>
          <p:nvPr/>
        </p:nvSpPr>
        <p:spPr>
          <a:xfrm>
            <a:off x="4006646" y="1447604"/>
            <a:ext cx="481780" cy="4801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</a:t>
            </a:r>
            <a:endParaRPr lang="en-US" sz="3600" dirty="0"/>
          </a:p>
        </p:txBody>
      </p:sp>
      <p:sp>
        <p:nvSpPr>
          <p:cNvPr id="15" name="Flowchart: Connector 14"/>
          <p:cNvSpPr/>
          <p:nvPr/>
        </p:nvSpPr>
        <p:spPr>
          <a:xfrm>
            <a:off x="7180007" y="2745770"/>
            <a:ext cx="481780" cy="4801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</a:t>
            </a:r>
            <a:endParaRPr lang="en-US" sz="3600" dirty="0"/>
          </a:p>
        </p:txBody>
      </p:sp>
      <p:sp>
        <p:nvSpPr>
          <p:cNvPr id="16" name="Flowchart: Connector 15"/>
          <p:cNvSpPr/>
          <p:nvPr/>
        </p:nvSpPr>
        <p:spPr>
          <a:xfrm>
            <a:off x="10333703" y="2745770"/>
            <a:ext cx="481780" cy="48015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4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10092610" y="113296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981" y="-186813"/>
            <a:ext cx="12526297" cy="726603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731341" y="240825"/>
            <a:ext cx="47293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lgerian" panose="04020705040A02060702" pitchFamily="82" charset="0"/>
              </a:rPr>
              <a:t>innovation</a:t>
            </a:r>
            <a:endParaRPr lang="en-US" sz="60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1150372" y="1684125"/>
            <a:ext cx="3883742" cy="1897626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3600" dirty="0"/>
              <a:t>Privacy-first, consent-based monitoring</a:t>
            </a:r>
            <a:endParaRPr lang="en-US" sz="3600" dirty="0"/>
          </a:p>
        </p:txBody>
      </p:sp>
      <p:sp>
        <p:nvSpPr>
          <p:cNvPr id="5" name="Rectangle: Rounded Corners 4"/>
          <p:cNvSpPr/>
          <p:nvPr/>
        </p:nvSpPr>
        <p:spPr>
          <a:xfrm>
            <a:off x="7295537" y="1684125"/>
            <a:ext cx="3883740" cy="1897626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3600" dirty="0"/>
              <a:t>Scalable, software-only solution</a:t>
            </a:r>
            <a:endParaRPr lang="en-US" sz="3600" dirty="0"/>
          </a:p>
        </p:txBody>
      </p:sp>
      <p:sp>
        <p:nvSpPr>
          <p:cNvPr id="6" name="Rectangle: Rounded Corners 5"/>
          <p:cNvSpPr/>
          <p:nvPr/>
        </p:nvSpPr>
        <p:spPr>
          <a:xfrm>
            <a:off x="1150372" y="4365523"/>
            <a:ext cx="3883742" cy="1897626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3600" dirty="0"/>
              <a:t>Real-time stress trend analysis</a:t>
            </a:r>
            <a:endParaRPr lang="en-US" sz="3600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7295537" y="4365523"/>
            <a:ext cx="3883740" cy="1897626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3600" dirty="0"/>
              <a:t>AI-powered personalized insights</a:t>
            </a:r>
            <a:endParaRPr 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10222889" y="133186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820" y="-117987"/>
            <a:ext cx="12447639" cy="7236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2387" y="373626"/>
            <a:ext cx="5633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gerian" panose="04020705040A02060702" pitchFamily="82" charset="0"/>
              </a:rPr>
              <a:t>Project  Impact</a:t>
            </a:r>
            <a:endParaRPr lang="en-US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5" name="Cloud 4"/>
          <p:cNvSpPr/>
          <p:nvPr/>
        </p:nvSpPr>
        <p:spPr>
          <a:xfrm>
            <a:off x="235974" y="1450429"/>
            <a:ext cx="4070555" cy="3180564"/>
          </a:xfrm>
          <a:prstGeom prst="clou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40 – 50  %</a:t>
            </a:r>
            <a:endParaRPr lang="en-US" sz="4400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Reduction of Burnout Risk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Proactive early warnings allow timely counseling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loud 5"/>
          <p:cNvSpPr/>
          <p:nvPr/>
        </p:nvSpPr>
        <p:spPr>
          <a:xfrm>
            <a:off x="7128387" y="973738"/>
            <a:ext cx="4552335" cy="2526546"/>
          </a:xfrm>
          <a:prstGeom prst="clou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Scalable across institutions</a:t>
            </a:r>
            <a:endParaRPr lang="en-US" sz="3600" dirty="0"/>
          </a:p>
        </p:txBody>
      </p:sp>
      <p:sp>
        <p:nvSpPr>
          <p:cNvPr id="7" name="Cloud 6"/>
          <p:cNvSpPr/>
          <p:nvPr/>
        </p:nvSpPr>
        <p:spPr>
          <a:xfrm>
            <a:off x="4773561" y="4054219"/>
            <a:ext cx="4709651" cy="2695372"/>
          </a:xfrm>
          <a:prstGeom prst="clou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Improved Academic Performance </a:t>
            </a:r>
            <a:endParaRPr lang="en-US" sz="3200" dirty="0"/>
          </a:p>
        </p:txBody>
      </p:sp>
      <p:grpSp>
        <p:nvGrpSpPr>
          <p:cNvPr id="12" name="Graphic 10" descr="Users with solid fill"/>
          <p:cNvGrpSpPr/>
          <p:nvPr/>
        </p:nvGrpSpPr>
        <p:grpSpPr>
          <a:xfrm>
            <a:off x="8691716" y="658934"/>
            <a:ext cx="1260065" cy="883907"/>
            <a:chOff x="7613240" y="1181383"/>
            <a:chExt cx="800100" cy="499109"/>
          </a:xfrm>
          <a:solidFill>
            <a:srgbClr val="000000"/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3" name="Oval 12"/>
            <p:cNvSpPr/>
            <p:nvPr/>
          </p:nvSpPr>
          <p:spPr>
            <a:xfrm>
              <a:off x="7698965" y="1181383"/>
              <a:ext cx="171450" cy="17144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156165" y="1181383"/>
              <a:ext cx="171450" cy="17144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5" name="Freeform: Shape 14"/>
            <p:cNvSpPr/>
            <p:nvPr/>
          </p:nvSpPr>
          <p:spPr>
            <a:xfrm>
              <a:off x="7841840" y="1509043"/>
              <a:ext cx="342900" cy="171449"/>
            </a:xfrm>
            <a:custGeom>
              <a:avLst/>
              <a:gdLst>
                <a:gd name="csX0" fmla="*/ 342900 w 342900"/>
                <a:gd name="csY0" fmla="*/ 171450 h 171449"/>
                <a:gd name="csX1" fmla="*/ 342900 w 342900"/>
                <a:gd name="csY1" fmla="*/ 85725 h 171449"/>
                <a:gd name="csX2" fmla="*/ 325755 w 342900"/>
                <a:gd name="csY2" fmla="*/ 51435 h 171449"/>
                <a:gd name="csX3" fmla="*/ 241935 w 342900"/>
                <a:gd name="csY3" fmla="*/ 11430 h 171449"/>
                <a:gd name="csX4" fmla="*/ 171450 w 342900"/>
                <a:gd name="csY4" fmla="*/ 0 h 171449"/>
                <a:gd name="csX5" fmla="*/ 100965 w 342900"/>
                <a:gd name="csY5" fmla="*/ 11430 h 171449"/>
                <a:gd name="csX6" fmla="*/ 17145 w 342900"/>
                <a:gd name="csY6" fmla="*/ 51435 h 171449"/>
                <a:gd name="csX7" fmla="*/ 0 w 342900"/>
                <a:gd name="csY7" fmla="*/ 85725 h 171449"/>
                <a:gd name="csX8" fmla="*/ 0 w 342900"/>
                <a:gd name="csY8" fmla="*/ 171450 h 171449"/>
                <a:gd name="csX9" fmla="*/ 342900 w 342900"/>
                <a:gd name="csY9" fmla="*/ 171450 h 1714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42900" h="171449">
                  <a:moveTo>
                    <a:pt x="342900" y="171450"/>
                  </a:moveTo>
                  <a:lnTo>
                    <a:pt x="342900" y="85725"/>
                  </a:lnTo>
                  <a:cubicBezTo>
                    <a:pt x="342900" y="72390"/>
                    <a:pt x="337185" y="59055"/>
                    <a:pt x="325755" y="51435"/>
                  </a:cubicBezTo>
                  <a:cubicBezTo>
                    <a:pt x="302895" y="32385"/>
                    <a:pt x="272415" y="19050"/>
                    <a:pt x="241935" y="11430"/>
                  </a:cubicBezTo>
                  <a:cubicBezTo>
                    <a:pt x="220980" y="5715"/>
                    <a:pt x="196215" y="0"/>
                    <a:pt x="171450" y="0"/>
                  </a:cubicBezTo>
                  <a:cubicBezTo>
                    <a:pt x="148590" y="0"/>
                    <a:pt x="123825" y="3810"/>
                    <a:pt x="100965" y="11430"/>
                  </a:cubicBezTo>
                  <a:cubicBezTo>
                    <a:pt x="70485" y="19050"/>
                    <a:pt x="41910" y="34290"/>
                    <a:pt x="17145" y="51435"/>
                  </a:cubicBezTo>
                  <a:cubicBezTo>
                    <a:pt x="5715" y="60960"/>
                    <a:pt x="0" y="72390"/>
                    <a:pt x="0" y="85725"/>
                  </a:cubicBezTo>
                  <a:lnTo>
                    <a:pt x="0" y="171450"/>
                  </a:lnTo>
                  <a:lnTo>
                    <a:pt x="342900" y="17145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27565" y="1314733"/>
              <a:ext cx="171450" cy="17145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7" name="Freeform: Shape 16"/>
            <p:cNvSpPr/>
            <p:nvPr/>
          </p:nvSpPr>
          <p:spPr>
            <a:xfrm>
              <a:off x="8102825" y="1375693"/>
              <a:ext cx="310514" cy="171450"/>
            </a:xfrm>
            <a:custGeom>
              <a:avLst/>
              <a:gdLst>
                <a:gd name="csX0" fmla="*/ 293370 w 310514"/>
                <a:gd name="csY0" fmla="*/ 51435 h 171450"/>
                <a:gd name="csX1" fmla="*/ 209550 w 310514"/>
                <a:gd name="csY1" fmla="*/ 11430 h 171450"/>
                <a:gd name="csX2" fmla="*/ 139065 w 310514"/>
                <a:gd name="csY2" fmla="*/ 0 h 171450"/>
                <a:gd name="csX3" fmla="*/ 68580 w 310514"/>
                <a:gd name="csY3" fmla="*/ 11430 h 171450"/>
                <a:gd name="csX4" fmla="*/ 34290 w 310514"/>
                <a:gd name="csY4" fmla="*/ 24765 h 171450"/>
                <a:gd name="csX5" fmla="*/ 34290 w 310514"/>
                <a:gd name="csY5" fmla="*/ 26670 h 171450"/>
                <a:gd name="csX6" fmla="*/ 0 w 310514"/>
                <a:gd name="csY6" fmla="*/ 110490 h 171450"/>
                <a:gd name="csX7" fmla="*/ 87630 w 310514"/>
                <a:gd name="csY7" fmla="*/ 154305 h 171450"/>
                <a:gd name="csX8" fmla="*/ 102870 w 310514"/>
                <a:gd name="csY8" fmla="*/ 171450 h 171450"/>
                <a:gd name="csX9" fmla="*/ 310515 w 310514"/>
                <a:gd name="csY9" fmla="*/ 171450 h 171450"/>
                <a:gd name="csX10" fmla="*/ 310515 w 310514"/>
                <a:gd name="csY10" fmla="*/ 85725 h 171450"/>
                <a:gd name="csX11" fmla="*/ 293370 w 310514"/>
                <a:gd name="csY11" fmla="*/ 51435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10514" h="171450">
                  <a:moveTo>
                    <a:pt x="293370" y="51435"/>
                  </a:moveTo>
                  <a:cubicBezTo>
                    <a:pt x="270510" y="32385"/>
                    <a:pt x="240030" y="19050"/>
                    <a:pt x="209550" y="11430"/>
                  </a:cubicBezTo>
                  <a:cubicBezTo>
                    <a:pt x="188595" y="5715"/>
                    <a:pt x="163830" y="0"/>
                    <a:pt x="139065" y="0"/>
                  </a:cubicBezTo>
                  <a:cubicBezTo>
                    <a:pt x="116205" y="0"/>
                    <a:pt x="91440" y="3810"/>
                    <a:pt x="68580" y="11430"/>
                  </a:cubicBezTo>
                  <a:cubicBezTo>
                    <a:pt x="57150" y="15240"/>
                    <a:pt x="45720" y="19050"/>
                    <a:pt x="34290" y="24765"/>
                  </a:cubicBezTo>
                  <a:lnTo>
                    <a:pt x="34290" y="26670"/>
                  </a:lnTo>
                  <a:cubicBezTo>
                    <a:pt x="34290" y="59055"/>
                    <a:pt x="20955" y="89535"/>
                    <a:pt x="0" y="110490"/>
                  </a:cubicBezTo>
                  <a:cubicBezTo>
                    <a:pt x="36195" y="121920"/>
                    <a:pt x="64770" y="137160"/>
                    <a:pt x="87630" y="154305"/>
                  </a:cubicBezTo>
                  <a:cubicBezTo>
                    <a:pt x="93345" y="160020"/>
                    <a:pt x="99060" y="163830"/>
                    <a:pt x="102870" y="171450"/>
                  </a:cubicBezTo>
                  <a:lnTo>
                    <a:pt x="310515" y="171450"/>
                  </a:lnTo>
                  <a:lnTo>
                    <a:pt x="310515" y="85725"/>
                  </a:lnTo>
                  <a:cubicBezTo>
                    <a:pt x="310515" y="72390"/>
                    <a:pt x="304800" y="59055"/>
                    <a:pt x="293370" y="51435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8" name="Freeform: Shape 17"/>
            <p:cNvSpPr/>
            <p:nvPr/>
          </p:nvSpPr>
          <p:spPr>
            <a:xfrm>
              <a:off x="7613240" y="1375693"/>
              <a:ext cx="310514" cy="171450"/>
            </a:xfrm>
            <a:custGeom>
              <a:avLst/>
              <a:gdLst>
                <a:gd name="csX0" fmla="*/ 222885 w 310514"/>
                <a:gd name="csY0" fmla="*/ 154305 h 171450"/>
                <a:gd name="csX1" fmla="*/ 222885 w 310514"/>
                <a:gd name="csY1" fmla="*/ 154305 h 171450"/>
                <a:gd name="csX2" fmla="*/ 310515 w 310514"/>
                <a:gd name="csY2" fmla="*/ 110490 h 171450"/>
                <a:gd name="csX3" fmla="*/ 276225 w 310514"/>
                <a:gd name="csY3" fmla="*/ 26670 h 171450"/>
                <a:gd name="csX4" fmla="*/ 276225 w 310514"/>
                <a:gd name="csY4" fmla="*/ 22860 h 171450"/>
                <a:gd name="csX5" fmla="*/ 241935 w 310514"/>
                <a:gd name="csY5" fmla="*/ 11430 h 171450"/>
                <a:gd name="csX6" fmla="*/ 171450 w 310514"/>
                <a:gd name="csY6" fmla="*/ 0 h 171450"/>
                <a:gd name="csX7" fmla="*/ 100965 w 310514"/>
                <a:gd name="csY7" fmla="*/ 11430 h 171450"/>
                <a:gd name="csX8" fmla="*/ 17145 w 310514"/>
                <a:gd name="csY8" fmla="*/ 51435 h 171450"/>
                <a:gd name="csX9" fmla="*/ 0 w 310514"/>
                <a:gd name="csY9" fmla="*/ 85725 h 171450"/>
                <a:gd name="csX10" fmla="*/ 0 w 310514"/>
                <a:gd name="csY10" fmla="*/ 171450 h 171450"/>
                <a:gd name="csX11" fmla="*/ 205740 w 310514"/>
                <a:gd name="csY11" fmla="*/ 171450 h 171450"/>
                <a:gd name="csX12" fmla="*/ 222885 w 310514"/>
                <a:gd name="csY12" fmla="*/ 154305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10514" h="171450">
                  <a:moveTo>
                    <a:pt x="222885" y="154305"/>
                  </a:moveTo>
                  <a:lnTo>
                    <a:pt x="222885" y="154305"/>
                  </a:lnTo>
                  <a:cubicBezTo>
                    <a:pt x="249555" y="135255"/>
                    <a:pt x="280035" y="120015"/>
                    <a:pt x="310515" y="110490"/>
                  </a:cubicBezTo>
                  <a:cubicBezTo>
                    <a:pt x="289560" y="87630"/>
                    <a:pt x="276225" y="59055"/>
                    <a:pt x="276225" y="26670"/>
                  </a:cubicBezTo>
                  <a:cubicBezTo>
                    <a:pt x="276225" y="24765"/>
                    <a:pt x="276225" y="24765"/>
                    <a:pt x="276225" y="22860"/>
                  </a:cubicBezTo>
                  <a:cubicBezTo>
                    <a:pt x="264795" y="19050"/>
                    <a:pt x="253365" y="13335"/>
                    <a:pt x="241935" y="11430"/>
                  </a:cubicBezTo>
                  <a:cubicBezTo>
                    <a:pt x="220980" y="5715"/>
                    <a:pt x="196215" y="0"/>
                    <a:pt x="171450" y="0"/>
                  </a:cubicBezTo>
                  <a:cubicBezTo>
                    <a:pt x="148590" y="0"/>
                    <a:pt x="123825" y="3810"/>
                    <a:pt x="100965" y="11430"/>
                  </a:cubicBezTo>
                  <a:cubicBezTo>
                    <a:pt x="70485" y="20955"/>
                    <a:pt x="41910" y="34290"/>
                    <a:pt x="17145" y="51435"/>
                  </a:cubicBezTo>
                  <a:cubicBezTo>
                    <a:pt x="5715" y="59055"/>
                    <a:pt x="0" y="72390"/>
                    <a:pt x="0" y="85725"/>
                  </a:cubicBezTo>
                  <a:lnTo>
                    <a:pt x="0" y="171450"/>
                  </a:lnTo>
                  <a:lnTo>
                    <a:pt x="205740" y="171450"/>
                  </a:lnTo>
                  <a:cubicBezTo>
                    <a:pt x="211455" y="163830"/>
                    <a:pt x="215265" y="160020"/>
                    <a:pt x="222885" y="154305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</p:grpSp>
      <p:sp>
        <p:nvSpPr>
          <p:cNvPr id="21" name="Graphic 19" descr="Heart with pulse with solid fill"/>
          <p:cNvSpPr/>
          <p:nvPr/>
        </p:nvSpPr>
        <p:spPr>
          <a:xfrm>
            <a:off x="235974" y="1639165"/>
            <a:ext cx="845372" cy="801864"/>
          </a:xfrm>
          <a:custGeom>
            <a:avLst/>
            <a:gdLst>
              <a:gd name="csX0" fmla="*/ 425795 w 845372"/>
              <a:gd name="csY0" fmla="*/ 799127 h 801864"/>
              <a:gd name="csX1" fmla="*/ 581717 w 845372"/>
              <a:gd name="csY1" fmla="*/ 660875 h 801864"/>
              <a:gd name="csX2" fmla="*/ 769995 w 845372"/>
              <a:gd name="csY2" fmla="*/ 433648 h 801864"/>
              <a:gd name="csX3" fmla="*/ 834579 w 845372"/>
              <a:gd name="csY3" fmla="*/ 154406 h 801864"/>
              <a:gd name="csX4" fmla="*/ 650035 w 845372"/>
              <a:gd name="csY4" fmla="*/ 847 h 801864"/>
              <a:gd name="csX5" fmla="*/ 422310 w 845372"/>
              <a:gd name="csY5" fmla="*/ 167098 h 801864"/>
              <a:gd name="csX6" fmla="*/ 220843 w 845372"/>
              <a:gd name="csY6" fmla="*/ 349 h 801864"/>
              <a:gd name="csX7" fmla="*/ 20744 w 845372"/>
              <a:gd name="csY7" fmla="*/ 128771 h 801864"/>
              <a:gd name="csX8" fmla="*/ 60316 w 845372"/>
              <a:gd name="csY8" fmla="*/ 409756 h 801864"/>
              <a:gd name="csX9" fmla="*/ 246228 w 845372"/>
              <a:gd name="csY9" fmla="*/ 644200 h 801864"/>
              <a:gd name="csX10" fmla="*/ 422310 w 845372"/>
              <a:gd name="csY10" fmla="*/ 801865 h 801864"/>
              <a:gd name="csX11" fmla="*/ 223207 w 845372"/>
              <a:gd name="csY11" fmla="*/ 376033 h 801864"/>
              <a:gd name="csX12" fmla="*/ 260539 w 845372"/>
              <a:gd name="csY12" fmla="*/ 264037 h 801864"/>
              <a:gd name="csX13" fmla="*/ 282689 w 845372"/>
              <a:gd name="csY13" fmla="*/ 197462 h 801864"/>
              <a:gd name="csX14" fmla="*/ 321141 w 845372"/>
              <a:gd name="csY14" fmla="*/ 166974 h 801864"/>
              <a:gd name="csX15" fmla="*/ 338936 w 845372"/>
              <a:gd name="csY15" fmla="*/ 201070 h 801864"/>
              <a:gd name="csX16" fmla="*/ 349264 w 845372"/>
              <a:gd name="csY16" fmla="*/ 256197 h 801864"/>
              <a:gd name="csX17" fmla="*/ 379130 w 845372"/>
              <a:gd name="csY17" fmla="*/ 415480 h 801864"/>
              <a:gd name="csX18" fmla="*/ 398916 w 845372"/>
              <a:gd name="csY18" fmla="*/ 521254 h 801864"/>
              <a:gd name="csX19" fmla="*/ 471091 w 845372"/>
              <a:gd name="csY19" fmla="*/ 330363 h 801864"/>
              <a:gd name="csX20" fmla="*/ 487019 w 845372"/>
              <a:gd name="csY20" fmla="*/ 288303 h 801864"/>
              <a:gd name="csX21" fmla="*/ 511907 w 845372"/>
              <a:gd name="csY21" fmla="*/ 262046 h 801864"/>
              <a:gd name="csX22" fmla="*/ 541897 w 845372"/>
              <a:gd name="csY22" fmla="*/ 291911 h 801864"/>
              <a:gd name="csX23" fmla="*/ 557203 w 845372"/>
              <a:gd name="csY23" fmla="*/ 344425 h 801864"/>
              <a:gd name="csX24" fmla="*/ 587566 w 845372"/>
              <a:gd name="csY24" fmla="*/ 448830 h 801864"/>
              <a:gd name="csX25" fmla="*/ 617556 w 845372"/>
              <a:gd name="csY25" fmla="*/ 415853 h 801864"/>
              <a:gd name="csX26" fmla="*/ 649786 w 845372"/>
              <a:gd name="csY26" fmla="*/ 381259 h 801864"/>
              <a:gd name="csX27" fmla="*/ 699562 w 845372"/>
              <a:gd name="csY27" fmla="*/ 376530 h 801864"/>
              <a:gd name="csX28" fmla="*/ 745853 w 845372"/>
              <a:gd name="csY28" fmla="*/ 376530 h 801864"/>
              <a:gd name="csX29" fmla="*/ 715366 w 845372"/>
              <a:gd name="csY29" fmla="*/ 426306 h 801864"/>
              <a:gd name="csX30" fmla="*/ 674923 w 845372"/>
              <a:gd name="csY30" fmla="*/ 426306 h 801864"/>
              <a:gd name="csX31" fmla="*/ 594908 w 845372"/>
              <a:gd name="csY31" fmla="*/ 514409 h 801864"/>
              <a:gd name="csX32" fmla="*/ 559850 w 845372"/>
              <a:gd name="csY32" fmla="*/ 517524 h 801864"/>
              <a:gd name="csX33" fmla="*/ 554590 w 845372"/>
              <a:gd name="csY33" fmla="*/ 511423 h 801864"/>
              <a:gd name="csX34" fmla="*/ 548741 w 845372"/>
              <a:gd name="csY34" fmla="*/ 494499 h 801864"/>
              <a:gd name="csX35" fmla="*/ 527960 w 845372"/>
              <a:gd name="csY35" fmla="*/ 423444 h 801864"/>
              <a:gd name="csX36" fmla="*/ 511036 w 845372"/>
              <a:gd name="csY36" fmla="*/ 365206 h 801864"/>
              <a:gd name="csX37" fmla="*/ 416088 w 845372"/>
              <a:gd name="csY37" fmla="*/ 616201 h 801864"/>
              <a:gd name="csX38" fmla="*/ 404764 w 845372"/>
              <a:gd name="csY38" fmla="*/ 633374 h 801864"/>
              <a:gd name="csX39" fmla="*/ 370159 w 845372"/>
              <a:gd name="csY39" fmla="*/ 626951 h 801864"/>
              <a:gd name="csX40" fmla="*/ 366188 w 845372"/>
              <a:gd name="csY40" fmla="*/ 617321 h 801864"/>
              <a:gd name="csX41" fmla="*/ 359593 w 845372"/>
              <a:gd name="csY41" fmla="*/ 582478 h 801864"/>
              <a:gd name="csX42" fmla="*/ 328110 w 845372"/>
              <a:gd name="csY42" fmla="*/ 414484 h 801864"/>
              <a:gd name="csX43" fmla="*/ 304590 w 845372"/>
              <a:gd name="csY43" fmla="*/ 288925 h 801864"/>
              <a:gd name="csX44" fmla="*/ 269499 w 845372"/>
              <a:gd name="csY44" fmla="*/ 394325 h 801864"/>
              <a:gd name="csX45" fmla="*/ 239757 w 845372"/>
              <a:gd name="csY45" fmla="*/ 426306 h 801864"/>
              <a:gd name="csX46" fmla="*/ 184880 w 845372"/>
              <a:gd name="csY46" fmla="*/ 426306 h 801864"/>
              <a:gd name="csX47" fmla="*/ 128882 w 845372"/>
              <a:gd name="csY47" fmla="*/ 426306 h 801864"/>
              <a:gd name="csX48" fmla="*/ 98394 w 845372"/>
              <a:gd name="csY48" fmla="*/ 376530 h 801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45372" h="801864">
                <a:moveTo>
                  <a:pt x="425795" y="799127"/>
                </a:moveTo>
                <a:cubicBezTo>
                  <a:pt x="480359" y="756050"/>
                  <a:pt x="532418" y="709890"/>
                  <a:pt x="581717" y="660875"/>
                </a:cubicBezTo>
                <a:cubicBezTo>
                  <a:pt x="653182" y="592789"/>
                  <a:pt x="716376" y="516521"/>
                  <a:pt x="769995" y="433648"/>
                </a:cubicBezTo>
                <a:cubicBezTo>
                  <a:pt x="819770" y="353509"/>
                  <a:pt x="867306" y="249477"/>
                  <a:pt x="834579" y="154406"/>
                </a:cubicBezTo>
                <a:cubicBezTo>
                  <a:pt x="808073" y="75760"/>
                  <a:pt x="734529" y="8936"/>
                  <a:pt x="650035" y="847"/>
                </a:cubicBezTo>
                <a:cubicBezTo>
                  <a:pt x="543266" y="-9730"/>
                  <a:pt x="465989" y="80613"/>
                  <a:pt x="422310" y="167098"/>
                </a:cubicBezTo>
                <a:cubicBezTo>
                  <a:pt x="382365" y="87955"/>
                  <a:pt x="316288" y="6323"/>
                  <a:pt x="220843" y="349"/>
                </a:cubicBezTo>
                <a:cubicBezTo>
                  <a:pt x="136099" y="-4877"/>
                  <a:pt x="57205" y="54730"/>
                  <a:pt x="20744" y="128771"/>
                </a:cubicBezTo>
                <a:cubicBezTo>
                  <a:pt x="-24926" y="221727"/>
                  <a:pt x="12282" y="326257"/>
                  <a:pt x="60316" y="409756"/>
                </a:cubicBezTo>
                <a:cubicBezTo>
                  <a:pt x="110091" y="496863"/>
                  <a:pt x="176293" y="573394"/>
                  <a:pt x="246228" y="644200"/>
                </a:cubicBezTo>
                <a:cubicBezTo>
                  <a:pt x="301359" y="700603"/>
                  <a:pt x="360183" y="753275"/>
                  <a:pt x="422310" y="801865"/>
                </a:cubicBezTo>
                <a:close/>
                <a:moveTo>
                  <a:pt x="223207" y="376033"/>
                </a:moveTo>
                <a:lnTo>
                  <a:pt x="260539" y="264037"/>
                </a:lnTo>
                <a:lnTo>
                  <a:pt x="282689" y="197462"/>
                </a:lnTo>
                <a:cubicBezTo>
                  <a:pt x="288413" y="180165"/>
                  <a:pt x="297249" y="157019"/>
                  <a:pt x="321141" y="166974"/>
                </a:cubicBezTo>
                <a:cubicBezTo>
                  <a:pt x="335576" y="173072"/>
                  <a:pt x="336447" y="188004"/>
                  <a:pt x="338936" y="201070"/>
                </a:cubicBezTo>
                <a:lnTo>
                  <a:pt x="349264" y="256197"/>
                </a:lnTo>
                <a:lnTo>
                  <a:pt x="379130" y="415480"/>
                </a:lnTo>
                <a:lnTo>
                  <a:pt x="398916" y="521254"/>
                </a:lnTo>
                <a:lnTo>
                  <a:pt x="471091" y="330363"/>
                </a:lnTo>
                <a:lnTo>
                  <a:pt x="487019" y="288303"/>
                </a:lnTo>
                <a:cubicBezTo>
                  <a:pt x="491623" y="275859"/>
                  <a:pt x="496352" y="263415"/>
                  <a:pt x="511907" y="262046"/>
                </a:cubicBezTo>
                <a:cubicBezTo>
                  <a:pt x="531693" y="260055"/>
                  <a:pt x="537541" y="276979"/>
                  <a:pt x="541897" y="291911"/>
                </a:cubicBezTo>
                <a:lnTo>
                  <a:pt x="557203" y="344425"/>
                </a:lnTo>
                <a:lnTo>
                  <a:pt x="587566" y="448830"/>
                </a:lnTo>
                <a:lnTo>
                  <a:pt x="617556" y="415853"/>
                </a:lnTo>
                <a:cubicBezTo>
                  <a:pt x="627149" y="403301"/>
                  <a:pt x="637943" y="391714"/>
                  <a:pt x="649786" y="381259"/>
                </a:cubicBezTo>
                <a:cubicBezTo>
                  <a:pt x="662230" y="372548"/>
                  <a:pt x="685251" y="376530"/>
                  <a:pt x="699562" y="376530"/>
                </a:cubicBezTo>
                <a:lnTo>
                  <a:pt x="745853" y="376530"/>
                </a:lnTo>
                <a:cubicBezTo>
                  <a:pt x="736645" y="393081"/>
                  <a:pt x="726441" y="409756"/>
                  <a:pt x="715366" y="426306"/>
                </a:cubicBezTo>
                <a:lnTo>
                  <a:pt x="674923" y="426306"/>
                </a:lnTo>
                <a:cubicBezTo>
                  <a:pt x="648417" y="455549"/>
                  <a:pt x="623031" y="486659"/>
                  <a:pt x="594908" y="514409"/>
                </a:cubicBezTo>
                <a:cubicBezTo>
                  <a:pt x="586086" y="524951"/>
                  <a:pt x="570391" y="526346"/>
                  <a:pt x="559850" y="517524"/>
                </a:cubicBezTo>
                <a:cubicBezTo>
                  <a:pt x="557777" y="515789"/>
                  <a:pt x="556000" y="513729"/>
                  <a:pt x="554590" y="511423"/>
                </a:cubicBezTo>
                <a:cubicBezTo>
                  <a:pt x="551886" y="506071"/>
                  <a:pt x="549918" y="500379"/>
                  <a:pt x="548741" y="494499"/>
                </a:cubicBezTo>
                <a:lnTo>
                  <a:pt x="527960" y="423444"/>
                </a:lnTo>
                <a:lnTo>
                  <a:pt x="511036" y="365206"/>
                </a:lnTo>
                <a:cubicBezTo>
                  <a:pt x="479304" y="448954"/>
                  <a:pt x="448816" y="532826"/>
                  <a:pt x="416088" y="616201"/>
                </a:cubicBezTo>
                <a:cubicBezTo>
                  <a:pt x="414258" y="622993"/>
                  <a:pt x="410287" y="629016"/>
                  <a:pt x="404764" y="633374"/>
                </a:cubicBezTo>
                <a:cubicBezTo>
                  <a:pt x="393434" y="641156"/>
                  <a:pt x="377941" y="638280"/>
                  <a:pt x="370159" y="626951"/>
                </a:cubicBezTo>
                <a:cubicBezTo>
                  <a:pt x="368170" y="624057"/>
                  <a:pt x="366818" y="620775"/>
                  <a:pt x="366188" y="617321"/>
                </a:cubicBezTo>
                <a:cubicBezTo>
                  <a:pt x="363326" y="605872"/>
                  <a:pt x="361833" y="593926"/>
                  <a:pt x="359593" y="582478"/>
                </a:cubicBezTo>
                <a:lnTo>
                  <a:pt x="328110" y="414484"/>
                </a:lnTo>
                <a:lnTo>
                  <a:pt x="304590" y="288925"/>
                </a:lnTo>
                <a:lnTo>
                  <a:pt x="269499" y="394325"/>
                </a:lnTo>
                <a:cubicBezTo>
                  <a:pt x="264148" y="410005"/>
                  <a:pt x="259917" y="425311"/>
                  <a:pt x="239757" y="426306"/>
                </a:cubicBezTo>
                <a:cubicBezTo>
                  <a:pt x="221465" y="427177"/>
                  <a:pt x="203048" y="426306"/>
                  <a:pt x="184880" y="426306"/>
                </a:cubicBezTo>
                <a:lnTo>
                  <a:pt x="128882" y="426306"/>
                </a:lnTo>
                <a:cubicBezTo>
                  <a:pt x="117931" y="409756"/>
                  <a:pt x="107603" y="393081"/>
                  <a:pt x="98394" y="376530"/>
                </a:cubicBezTo>
                <a:close/>
              </a:path>
            </a:pathLst>
          </a:custGeom>
          <a:solidFill>
            <a:schemeClr val="lt1"/>
          </a:solidFill>
          <a:ln w="12700" cap="flat">
            <a:solidFill>
              <a:srgbClr val="00B050"/>
            </a:solidFill>
            <a:prstDash val="solid"/>
            <a:miter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sp>
      <p:grpSp>
        <p:nvGrpSpPr>
          <p:cNvPr id="24" name="Graphic 22" descr="Podium with solid fill"/>
          <p:cNvGrpSpPr/>
          <p:nvPr/>
        </p:nvGrpSpPr>
        <p:grpSpPr>
          <a:xfrm>
            <a:off x="4670323" y="4054219"/>
            <a:ext cx="1265985" cy="1128485"/>
            <a:chOff x="4519595" y="4094530"/>
            <a:chExt cx="1062150" cy="995870"/>
          </a:xfrm>
          <a:solidFill>
            <a:schemeClr val="lt1"/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5" name="Freeform: Shape 24"/>
            <p:cNvSpPr/>
            <p:nvPr/>
          </p:nvSpPr>
          <p:spPr>
            <a:xfrm>
              <a:off x="4519595" y="4094530"/>
              <a:ext cx="1062150" cy="995870"/>
            </a:xfrm>
            <a:custGeom>
              <a:avLst/>
              <a:gdLst>
                <a:gd name="csX0" fmla="*/ 955936 w 1062150"/>
                <a:gd name="csY0" fmla="*/ 836548 h 995870"/>
                <a:gd name="csX1" fmla="*/ 955936 w 1062150"/>
                <a:gd name="csY1" fmla="*/ 463468 h 995870"/>
                <a:gd name="csX2" fmla="*/ 983817 w 1062150"/>
                <a:gd name="csY2" fmla="*/ 578976 h 995870"/>
                <a:gd name="csX3" fmla="*/ 1009043 w 1062150"/>
                <a:gd name="csY3" fmla="*/ 598892 h 995870"/>
                <a:gd name="csX4" fmla="*/ 1035597 w 1062150"/>
                <a:gd name="csY4" fmla="*/ 572338 h 995870"/>
                <a:gd name="csX5" fmla="*/ 1034269 w 1062150"/>
                <a:gd name="csY5" fmla="*/ 565700 h 995870"/>
                <a:gd name="csX6" fmla="*/ 997094 w 1062150"/>
                <a:gd name="csY6" fmla="*/ 407705 h 995870"/>
                <a:gd name="csX7" fmla="*/ 989128 w 1062150"/>
                <a:gd name="csY7" fmla="*/ 393100 h 995870"/>
                <a:gd name="csX8" fmla="*/ 933365 w 1062150"/>
                <a:gd name="csY8" fmla="*/ 363891 h 995870"/>
                <a:gd name="csX9" fmla="*/ 889551 w 1062150"/>
                <a:gd name="csY9" fmla="*/ 358580 h 995870"/>
                <a:gd name="csX10" fmla="*/ 845738 w 1062150"/>
                <a:gd name="csY10" fmla="*/ 365219 h 995870"/>
                <a:gd name="csX11" fmla="*/ 789975 w 1062150"/>
                <a:gd name="csY11" fmla="*/ 394428 h 995870"/>
                <a:gd name="csX12" fmla="*/ 782009 w 1062150"/>
                <a:gd name="csY12" fmla="*/ 409032 h 995870"/>
                <a:gd name="csX13" fmla="*/ 744833 w 1062150"/>
                <a:gd name="csY13" fmla="*/ 567027 h 995870"/>
                <a:gd name="csX14" fmla="*/ 743506 w 1062150"/>
                <a:gd name="csY14" fmla="*/ 573666 h 995870"/>
                <a:gd name="csX15" fmla="*/ 770059 w 1062150"/>
                <a:gd name="csY15" fmla="*/ 600220 h 995870"/>
                <a:gd name="csX16" fmla="*/ 795285 w 1062150"/>
                <a:gd name="csY16" fmla="*/ 580304 h 995870"/>
                <a:gd name="csX17" fmla="*/ 823167 w 1062150"/>
                <a:gd name="csY17" fmla="*/ 464795 h 995870"/>
                <a:gd name="csX18" fmla="*/ 823167 w 1062150"/>
                <a:gd name="csY18" fmla="*/ 836548 h 995870"/>
                <a:gd name="csX19" fmla="*/ 716952 w 1062150"/>
                <a:gd name="csY19" fmla="*/ 836548 h 995870"/>
                <a:gd name="csX20" fmla="*/ 716952 w 1062150"/>
                <a:gd name="csY20" fmla="*/ 624118 h 995870"/>
                <a:gd name="csX21" fmla="*/ 597460 w 1062150"/>
                <a:gd name="csY21" fmla="*/ 624118 h 995870"/>
                <a:gd name="csX22" fmla="*/ 597460 w 1062150"/>
                <a:gd name="csY22" fmla="*/ 411688 h 995870"/>
                <a:gd name="csX23" fmla="*/ 597460 w 1062150"/>
                <a:gd name="csY23" fmla="*/ 236433 h 995870"/>
                <a:gd name="csX24" fmla="*/ 712969 w 1062150"/>
                <a:gd name="csY24" fmla="*/ 39935 h 995870"/>
                <a:gd name="csX25" fmla="*/ 703675 w 1062150"/>
                <a:gd name="csY25" fmla="*/ 4087 h 995870"/>
                <a:gd name="csX26" fmla="*/ 667827 w 1062150"/>
                <a:gd name="csY26" fmla="*/ 13381 h 995870"/>
                <a:gd name="csX27" fmla="*/ 584183 w 1062150"/>
                <a:gd name="csY27" fmla="*/ 155444 h 995870"/>
                <a:gd name="csX28" fmla="*/ 574889 w 1062150"/>
                <a:gd name="csY28" fmla="*/ 152788 h 995870"/>
                <a:gd name="csX29" fmla="*/ 531075 w 1062150"/>
                <a:gd name="csY29" fmla="*/ 146150 h 995870"/>
                <a:gd name="csX30" fmla="*/ 531075 w 1062150"/>
                <a:gd name="csY30" fmla="*/ 146150 h 995870"/>
                <a:gd name="csX31" fmla="*/ 487262 w 1062150"/>
                <a:gd name="csY31" fmla="*/ 152788 h 995870"/>
                <a:gd name="csX32" fmla="*/ 477968 w 1062150"/>
                <a:gd name="csY32" fmla="*/ 155444 h 995870"/>
                <a:gd name="csX33" fmla="*/ 394324 w 1062150"/>
                <a:gd name="csY33" fmla="*/ 13381 h 995870"/>
                <a:gd name="csX34" fmla="*/ 358476 w 1062150"/>
                <a:gd name="csY34" fmla="*/ 4087 h 995870"/>
                <a:gd name="csX35" fmla="*/ 349182 w 1062150"/>
                <a:gd name="csY35" fmla="*/ 39935 h 995870"/>
                <a:gd name="csX36" fmla="*/ 464691 w 1062150"/>
                <a:gd name="csY36" fmla="*/ 236433 h 995870"/>
                <a:gd name="csX37" fmla="*/ 464691 w 1062150"/>
                <a:gd name="csY37" fmla="*/ 411688 h 995870"/>
                <a:gd name="csX38" fmla="*/ 464691 w 1062150"/>
                <a:gd name="csY38" fmla="*/ 624118 h 995870"/>
                <a:gd name="csX39" fmla="*/ 345199 w 1062150"/>
                <a:gd name="csY39" fmla="*/ 624118 h 995870"/>
                <a:gd name="csX40" fmla="*/ 345199 w 1062150"/>
                <a:gd name="csY40" fmla="*/ 730333 h 995870"/>
                <a:gd name="csX41" fmla="*/ 252261 w 1062150"/>
                <a:gd name="csY41" fmla="*/ 730333 h 995870"/>
                <a:gd name="csX42" fmla="*/ 252261 w 1062150"/>
                <a:gd name="csY42" fmla="*/ 357253 h 995870"/>
                <a:gd name="csX43" fmla="*/ 280142 w 1062150"/>
                <a:gd name="csY43" fmla="*/ 472761 h 995870"/>
                <a:gd name="csX44" fmla="*/ 305368 w 1062150"/>
                <a:gd name="csY44" fmla="*/ 492677 h 995870"/>
                <a:gd name="csX45" fmla="*/ 331922 w 1062150"/>
                <a:gd name="csY45" fmla="*/ 466123 h 995870"/>
                <a:gd name="csX46" fmla="*/ 330594 w 1062150"/>
                <a:gd name="csY46" fmla="*/ 459484 h 995870"/>
                <a:gd name="csX47" fmla="*/ 293419 w 1062150"/>
                <a:gd name="csY47" fmla="*/ 301490 h 995870"/>
                <a:gd name="csX48" fmla="*/ 285453 w 1062150"/>
                <a:gd name="csY48" fmla="*/ 286885 h 995870"/>
                <a:gd name="csX49" fmla="*/ 229690 w 1062150"/>
                <a:gd name="csY49" fmla="*/ 257676 h 995870"/>
                <a:gd name="csX50" fmla="*/ 185876 w 1062150"/>
                <a:gd name="csY50" fmla="*/ 252365 h 995870"/>
                <a:gd name="csX51" fmla="*/ 142063 w 1062150"/>
                <a:gd name="csY51" fmla="*/ 259004 h 995870"/>
                <a:gd name="csX52" fmla="*/ 86300 w 1062150"/>
                <a:gd name="csY52" fmla="*/ 288213 h 995870"/>
                <a:gd name="csX53" fmla="*/ 78334 w 1062150"/>
                <a:gd name="csY53" fmla="*/ 302817 h 995870"/>
                <a:gd name="csX54" fmla="*/ 41158 w 1062150"/>
                <a:gd name="csY54" fmla="*/ 460812 h 995870"/>
                <a:gd name="csX55" fmla="*/ 39831 w 1062150"/>
                <a:gd name="csY55" fmla="*/ 467451 h 995870"/>
                <a:gd name="csX56" fmla="*/ 66384 w 1062150"/>
                <a:gd name="csY56" fmla="*/ 494004 h 995870"/>
                <a:gd name="csX57" fmla="*/ 91611 w 1062150"/>
                <a:gd name="csY57" fmla="*/ 474089 h 995870"/>
                <a:gd name="csX58" fmla="*/ 119492 w 1062150"/>
                <a:gd name="csY58" fmla="*/ 358580 h 995870"/>
                <a:gd name="csX59" fmla="*/ 119492 w 1062150"/>
                <a:gd name="csY59" fmla="*/ 730333 h 995870"/>
                <a:gd name="csX60" fmla="*/ 0 w 1062150"/>
                <a:gd name="csY60" fmla="*/ 730333 h 995870"/>
                <a:gd name="csX61" fmla="*/ 0 w 1062150"/>
                <a:gd name="csY61" fmla="*/ 995871 h 995870"/>
                <a:gd name="csX62" fmla="*/ 1062151 w 1062150"/>
                <a:gd name="csY62" fmla="*/ 995871 h 995870"/>
                <a:gd name="csX63" fmla="*/ 1062151 w 1062150"/>
                <a:gd name="csY63" fmla="*/ 836548 h 995870"/>
                <a:gd name="csX64" fmla="*/ 955936 w 1062150"/>
                <a:gd name="csY64" fmla="*/ 836548 h 995870"/>
                <a:gd name="csX65" fmla="*/ 199153 w 1062150"/>
                <a:gd name="csY65" fmla="*/ 730333 h 995870"/>
                <a:gd name="csX66" fmla="*/ 172600 w 1062150"/>
                <a:gd name="csY66" fmla="*/ 730333 h 995870"/>
                <a:gd name="csX67" fmla="*/ 172600 w 1062150"/>
                <a:gd name="csY67" fmla="*/ 491349 h 995870"/>
                <a:gd name="csX68" fmla="*/ 199153 w 1062150"/>
                <a:gd name="csY68" fmla="*/ 491349 h 995870"/>
                <a:gd name="csX69" fmla="*/ 199153 w 1062150"/>
                <a:gd name="csY69" fmla="*/ 730333 h 995870"/>
                <a:gd name="csX70" fmla="*/ 544352 w 1062150"/>
                <a:gd name="csY70" fmla="*/ 624118 h 995870"/>
                <a:gd name="csX71" fmla="*/ 517799 w 1062150"/>
                <a:gd name="csY71" fmla="*/ 624118 h 995870"/>
                <a:gd name="csX72" fmla="*/ 517799 w 1062150"/>
                <a:gd name="csY72" fmla="*/ 385134 h 995870"/>
                <a:gd name="csX73" fmla="*/ 544352 w 1062150"/>
                <a:gd name="csY73" fmla="*/ 385134 h 995870"/>
                <a:gd name="csX74" fmla="*/ 544352 w 1062150"/>
                <a:gd name="csY74" fmla="*/ 624118 h 995870"/>
                <a:gd name="csX75" fmla="*/ 902828 w 1062150"/>
                <a:gd name="csY75" fmla="*/ 836548 h 995870"/>
                <a:gd name="csX76" fmla="*/ 876274 w 1062150"/>
                <a:gd name="csY76" fmla="*/ 836548 h 995870"/>
                <a:gd name="csX77" fmla="*/ 876274 w 1062150"/>
                <a:gd name="csY77" fmla="*/ 597564 h 995870"/>
                <a:gd name="csX78" fmla="*/ 902828 w 1062150"/>
                <a:gd name="csY78" fmla="*/ 597564 h 995870"/>
                <a:gd name="csX79" fmla="*/ 902828 w 1062150"/>
                <a:gd name="csY79" fmla="*/ 836548 h 995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1062150" h="995870">
                  <a:moveTo>
                    <a:pt x="955936" y="836548"/>
                  </a:moveTo>
                  <a:lnTo>
                    <a:pt x="955936" y="463468"/>
                  </a:lnTo>
                  <a:lnTo>
                    <a:pt x="983817" y="578976"/>
                  </a:lnTo>
                  <a:cubicBezTo>
                    <a:pt x="986473" y="589598"/>
                    <a:pt x="997094" y="598892"/>
                    <a:pt x="1009043" y="598892"/>
                  </a:cubicBezTo>
                  <a:cubicBezTo>
                    <a:pt x="1023648" y="598892"/>
                    <a:pt x="1035597" y="586943"/>
                    <a:pt x="1035597" y="572338"/>
                  </a:cubicBezTo>
                  <a:cubicBezTo>
                    <a:pt x="1035597" y="569683"/>
                    <a:pt x="1034269" y="567027"/>
                    <a:pt x="1034269" y="565700"/>
                  </a:cubicBezTo>
                  <a:lnTo>
                    <a:pt x="997094" y="407705"/>
                  </a:lnTo>
                  <a:cubicBezTo>
                    <a:pt x="995766" y="402394"/>
                    <a:pt x="993111" y="397083"/>
                    <a:pt x="989128" y="393100"/>
                  </a:cubicBezTo>
                  <a:cubicBezTo>
                    <a:pt x="973196" y="379823"/>
                    <a:pt x="954608" y="370529"/>
                    <a:pt x="933365" y="363891"/>
                  </a:cubicBezTo>
                  <a:cubicBezTo>
                    <a:pt x="918760" y="361236"/>
                    <a:pt x="904156" y="358580"/>
                    <a:pt x="889551" y="358580"/>
                  </a:cubicBezTo>
                  <a:cubicBezTo>
                    <a:pt x="874947" y="358580"/>
                    <a:pt x="860342" y="361236"/>
                    <a:pt x="845738" y="365219"/>
                  </a:cubicBezTo>
                  <a:cubicBezTo>
                    <a:pt x="824495" y="370529"/>
                    <a:pt x="805907" y="381151"/>
                    <a:pt x="789975" y="394428"/>
                  </a:cubicBezTo>
                  <a:cubicBezTo>
                    <a:pt x="785992" y="398411"/>
                    <a:pt x="783336" y="403722"/>
                    <a:pt x="782009" y="409032"/>
                  </a:cubicBezTo>
                  <a:lnTo>
                    <a:pt x="744833" y="567027"/>
                  </a:lnTo>
                  <a:cubicBezTo>
                    <a:pt x="744833" y="568355"/>
                    <a:pt x="743506" y="571010"/>
                    <a:pt x="743506" y="573666"/>
                  </a:cubicBezTo>
                  <a:cubicBezTo>
                    <a:pt x="743506" y="588270"/>
                    <a:pt x="755455" y="600220"/>
                    <a:pt x="770059" y="600220"/>
                  </a:cubicBezTo>
                  <a:cubicBezTo>
                    <a:pt x="782009" y="600220"/>
                    <a:pt x="792630" y="590926"/>
                    <a:pt x="795285" y="580304"/>
                  </a:cubicBezTo>
                  <a:lnTo>
                    <a:pt x="823167" y="464795"/>
                  </a:lnTo>
                  <a:lnTo>
                    <a:pt x="823167" y="836548"/>
                  </a:lnTo>
                  <a:lnTo>
                    <a:pt x="716952" y="836548"/>
                  </a:lnTo>
                  <a:lnTo>
                    <a:pt x="716952" y="624118"/>
                  </a:lnTo>
                  <a:lnTo>
                    <a:pt x="597460" y="624118"/>
                  </a:lnTo>
                  <a:lnTo>
                    <a:pt x="597460" y="411688"/>
                  </a:lnTo>
                  <a:lnTo>
                    <a:pt x="597460" y="236433"/>
                  </a:lnTo>
                  <a:lnTo>
                    <a:pt x="712969" y="39935"/>
                  </a:lnTo>
                  <a:cubicBezTo>
                    <a:pt x="720935" y="26658"/>
                    <a:pt x="715624" y="10726"/>
                    <a:pt x="703675" y="4087"/>
                  </a:cubicBezTo>
                  <a:cubicBezTo>
                    <a:pt x="690398" y="-3879"/>
                    <a:pt x="674466" y="1432"/>
                    <a:pt x="667827" y="13381"/>
                  </a:cubicBezTo>
                  <a:lnTo>
                    <a:pt x="584183" y="155444"/>
                  </a:lnTo>
                  <a:cubicBezTo>
                    <a:pt x="581528" y="154116"/>
                    <a:pt x="578872" y="152788"/>
                    <a:pt x="574889" y="152788"/>
                  </a:cubicBezTo>
                  <a:cubicBezTo>
                    <a:pt x="560285" y="148805"/>
                    <a:pt x="545680" y="146150"/>
                    <a:pt x="531075" y="146150"/>
                  </a:cubicBezTo>
                  <a:lnTo>
                    <a:pt x="531075" y="146150"/>
                  </a:lnTo>
                  <a:cubicBezTo>
                    <a:pt x="516471" y="146150"/>
                    <a:pt x="501866" y="148805"/>
                    <a:pt x="487262" y="152788"/>
                  </a:cubicBezTo>
                  <a:cubicBezTo>
                    <a:pt x="484606" y="154116"/>
                    <a:pt x="481951" y="154116"/>
                    <a:pt x="477968" y="155444"/>
                  </a:cubicBezTo>
                  <a:lnTo>
                    <a:pt x="394324" y="13381"/>
                  </a:lnTo>
                  <a:cubicBezTo>
                    <a:pt x="386357" y="104"/>
                    <a:pt x="370425" y="-3879"/>
                    <a:pt x="358476" y="4087"/>
                  </a:cubicBezTo>
                  <a:cubicBezTo>
                    <a:pt x="345199" y="12053"/>
                    <a:pt x="341216" y="27986"/>
                    <a:pt x="349182" y="39935"/>
                  </a:cubicBezTo>
                  <a:lnTo>
                    <a:pt x="464691" y="236433"/>
                  </a:lnTo>
                  <a:lnTo>
                    <a:pt x="464691" y="411688"/>
                  </a:lnTo>
                  <a:lnTo>
                    <a:pt x="464691" y="624118"/>
                  </a:lnTo>
                  <a:lnTo>
                    <a:pt x="345199" y="624118"/>
                  </a:lnTo>
                  <a:lnTo>
                    <a:pt x="345199" y="730333"/>
                  </a:lnTo>
                  <a:lnTo>
                    <a:pt x="252261" y="730333"/>
                  </a:lnTo>
                  <a:lnTo>
                    <a:pt x="252261" y="357253"/>
                  </a:lnTo>
                  <a:lnTo>
                    <a:pt x="280142" y="472761"/>
                  </a:lnTo>
                  <a:cubicBezTo>
                    <a:pt x="282798" y="483383"/>
                    <a:pt x="293419" y="492677"/>
                    <a:pt x="305368" y="492677"/>
                  </a:cubicBezTo>
                  <a:cubicBezTo>
                    <a:pt x="319973" y="492677"/>
                    <a:pt x="331922" y="480728"/>
                    <a:pt x="331922" y="466123"/>
                  </a:cubicBezTo>
                  <a:cubicBezTo>
                    <a:pt x="331922" y="463468"/>
                    <a:pt x="330594" y="460812"/>
                    <a:pt x="330594" y="459484"/>
                  </a:cubicBezTo>
                  <a:lnTo>
                    <a:pt x="293419" y="301490"/>
                  </a:lnTo>
                  <a:cubicBezTo>
                    <a:pt x="292091" y="296179"/>
                    <a:pt x="289436" y="290868"/>
                    <a:pt x="285453" y="286885"/>
                  </a:cubicBezTo>
                  <a:cubicBezTo>
                    <a:pt x="269521" y="273608"/>
                    <a:pt x="250933" y="264314"/>
                    <a:pt x="229690" y="257676"/>
                  </a:cubicBezTo>
                  <a:cubicBezTo>
                    <a:pt x="215086" y="255020"/>
                    <a:pt x="200481" y="252365"/>
                    <a:pt x="185876" y="252365"/>
                  </a:cubicBezTo>
                  <a:cubicBezTo>
                    <a:pt x="171272" y="252365"/>
                    <a:pt x="156667" y="255020"/>
                    <a:pt x="142063" y="259004"/>
                  </a:cubicBezTo>
                  <a:cubicBezTo>
                    <a:pt x="120820" y="264314"/>
                    <a:pt x="102232" y="274936"/>
                    <a:pt x="86300" y="288213"/>
                  </a:cubicBezTo>
                  <a:cubicBezTo>
                    <a:pt x="82317" y="292196"/>
                    <a:pt x="79661" y="297507"/>
                    <a:pt x="78334" y="302817"/>
                  </a:cubicBezTo>
                  <a:lnTo>
                    <a:pt x="41158" y="460812"/>
                  </a:lnTo>
                  <a:cubicBezTo>
                    <a:pt x="41158" y="462140"/>
                    <a:pt x="39831" y="464795"/>
                    <a:pt x="39831" y="467451"/>
                  </a:cubicBezTo>
                  <a:cubicBezTo>
                    <a:pt x="39831" y="482055"/>
                    <a:pt x="51780" y="494004"/>
                    <a:pt x="66384" y="494004"/>
                  </a:cubicBezTo>
                  <a:cubicBezTo>
                    <a:pt x="78334" y="494004"/>
                    <a:pt x="88955" y="484711"/>
                    <a:pt x="91611" y="474089"/>
                  </a:cubicBezTo>
                  <a:lnTo>
                    <a:pt x="119492" y="358580"/>
                  </a:lnTo>
                  <a:lnTo>
                    <a:pt x="119492" y="730333"/>
                  </a:lnTo>
                  <a:lnTo>
                    <a:pt x="0" y="730333"/>
                  </a:lnTo>
                  <a:lnTo>
                    <a:pt x="0" y="995871"/>
                  </a:lnTo>
                  <a:lnTo>
                    <a:pt x="1062151" y="995871"/>
                  </a:lnTo>
                  <a:lnTo>
                    <a:pt x="1062151" y="836548"/>
                  </a:lnTo>
                  <a:lnTo>
                    <a:pt x="955936" y="836548"/>
                  </a:lnTo>
                  <a:close/>
                  <a:moveTo>
                    <a:pt x="199153" y="730333"/>
                  </a:moveTo>
                  <a:lnTo>
                    <a:pt x="172600" y="730333"/>
                  </a:lnTo>
                  <a:lnTo>
                    <a:pt x="172600" y="491349"/>
                  </a:lnTo>
                  <a:lnTo>
                    <a:pt x="199153" y="491349"/>
                  </a:lnTo>
                  <a:lnTo>
                    <a:pt x="199153" y="730333"/>
                  </a:lnTo>
                  <a:close/>
                  <a:moveTo>
                    <a:pt x="544352" y="624118"/>
                  </a:moveTo>
                  <a:lnTo>
                    <a:pt x="517799" y="624118"/>
                  </a:lnTo>
                  <a:lnTo>
                    <a:pt x="517799" y="385134"/>
                  </a:lnTo>
                  <a:lnTo>
                    <a:pt x="544352" y="385134"/>
                  </a:lnTo>
                  <a:lnTo>
                    <a:pt x="544352" y="624118"/>
                  </a:lnTo>
                  <a:close/>
                  <a:moveTo>
                    <a:pt x="902828" y="836548"/>
                  </a:moveTo>
                  <a:lnTo>
                    <a:pt x="876274" y="836548"/>
                  </a:lnTo>
                  <a:lnTo>
                    <a:pt x="876274" y="597564"/>
                  </a:lnTo>
                  <a:lnTo>
                    <a:pt x="902828" y="597564"/>
                  </a:lnTo>
                  <a:lnTo>
                    <a:pt x="902828" y="836548"/>
                  </a:lnTo>
                  <a:close/>
                </a:path>
              </a:pathLst>
            </a:custGeom>
            <a:solidFill>
              <a:schemeClr val="lt1"/>
            </a:solidFill>
            <a:ln w="12700" cap="flat">
              <a:solidFill>
                <a:schemeClr val="accent6"/>
              </a:solidFill>
              <a:prstDash val="solid"/>
              <a:miter/>
            </a:ln>
          </p:spPr>
        </p:sp>
        <p:sp>
          <p:nvSpPr>
            <p:cNvPr id="26" name="Oval 25"/>
            <p:cNvSpPr/>
            <p:nvPr/>
          </p:nvSpPr>
          <p:spPr>
            <a:xfrm>
              <a:off x="4652363" y="4227403"/>
              <a:ext cx="106215" cy="106215"/>
            </a:xfrm>
            <a:prstGeom prst="ellipse">
              <a:avLst/>
            </a:prstGeom>
            <a:solidFill>
              <a:schemeClr val="lt1"/>
            </a:solidFill>
            <a:ln w="12700" cap="flat">
              <a:solidFill>
                <a:schemeClr val="accent6"/>
              </a:solidFill>
              <a:prstDash val="solid"/>
              <a:miter/>
            </a:ln>
          </p:spPr>
        </p:sp>
        <p:sp>
          <p:nvSpPr>
            <p:cNvPr id="27" name="Oval 26"/>
            <p:cNvSpPr/>
            <p:nvPr/>
          </p:nvSpPr>
          <p:spPr>
            <a:xfrm>
              <a:off x="5356038" y="4333618"/>
              <a:ext cx="106215" cy="106215"/>
            </a:xfrm>
            <a:prstGeom prst="ellipse">
              <a:avLst/>
            </a:prstGeom>
            <a:solidFill>
              <a:schemeClr val="lt1"/>
            </a:solidFill>
            <a:ln w="12700" cap="flat">
              <a:solidFill>
                <a:schemeClr val="accent6"/>
              </a:solidFill>
              <a:prstDash val="solid"/>
              <a:miter/>
            </a:ln>
          </p:spPr>
        </p:sp>
        <p:sp>
          <p:nvSpPr>
            <p:cNvPr id="28" name="Oval 27"/>
            <p:cNvSpPr/>
            <p:nvPr/>
          </p:nvSpPr>
          <p:spPr>
            <a:xfrm>
              <a:off x="4997562" y="4121188"/>
              <a:ext cx="106215" cy="106215"/>
            </a:xfrm>
            <a:prstGeom prst="ellipse">
              <a:avLst/>
            </a:prstGeom>
            <a:solidFill>
              <a:schemeClr val="lt1"/>
            </a:solidFill>
            <a:ln w="12700" cap="flat">
              <a:solidFill>
                <a:schemeClr val="accent6"/>
              </a:solidFill>
              <a:prstDash val="solid"/>
              <a:miter/>
            </a:ln>
          </p:spPr>
        </p:sp>
      </p:grpSp>
      <p:sp>
        <p:nvSpPr>
          <p:cNvPr id="2" name="TextBox 1"/>
          <p:cNvSpPr txBox="1"/>
          <p:nvPr/>
        </p:nvSpPr>
        <p:spPr>
          <a:xfrm>
            <a:off x="10111908" y="197269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314" y="-74645"/>
            <a:ext cx="12344400" cy="70259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7805" y="175118"/>
            <a:ext cx="594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lgerian" panose="04020705040A02060702" pitchFamily="82" charset="0"/>
              </a:rPr>
              <a:t>Project Feasibility</a:t>
            </a:r>
            <a:endParaRPr lang="en-US" sz="4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ardrop 5"/>
          <p:cNvSpPr/>
          <p:nvPr/>
        </p:nvSpPr>
        <p:spPr>
          <a:xfrm flipV="1">
            <a:off x="2366865" y="1126136"/>
            <a:ext cx="2716762" cy="2753610"/>
          </a:xfrm>
          <a:prstGeom prst="teardrop">
            <a:avLst/>
          </a:prstGeom>
          <a:ln>
            <a:headEnd type="none" w="med" len="med"/>
            <a:tailEnd type="none" w="med" len="med"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ardrop 6"/>
          <p:cNvSpPr/>
          <p:nvPr/>
        </p:nvSpPr>
        <p:spPr>
          <a:xfrm rot="16200000">
            <a:off x="5807532" y="4035486"/>
            <a:ext cx="2617238" cy="2794521"/>
          </a:xfrm>
          <a:prstGeom prst="teardrop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724539" y="1894167"/>
            <a:ext cx="2164701" cy="13849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MVP in 8 weeks using existing API’s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ardrop 7"/>
          <p:cNvSpPr/>
          <p:nvPr/>
        </p:nvSpPr>
        <p:spPr>
          <a:xfrm>
            <a:off x="2573692" y="4240762"/>
            <a:ext cx="2509935" cy="2500604"/>
          </a:xfrm>
          <a:prstGeom prst="teardrop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ardrop 8"/>
          <p:cNvSpPr/>
          <p:nvPr/>
        </p:nvSpPr>
        <p:spPr>
          <a:xfrm rot="5400000" flipV="1">
            <a:off x="5768652" y="1212744"/>
            <a:ext cx="2617239" cy="2716765"/>
          </a:xfrm>
          <a:prstGeom prst="teardrop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96000" y="1894167"/>
            <a:ext cx="18676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No new hardware required initially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73692" y="4723028"/>
            <a:ext cx="25099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Use 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Open-Source ML tools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19804" y="4851918"/>
            <a:ext cx="2192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Cost effective and Scalable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11747" y="261258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80865" y="-45487"/>
            <a:ext cx="12353730" cy="69489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7242" y="251926"/>
            <a:ext cx="5449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Algerian" panose="04020705040A02060702" pitchFamily="82" charset="0"/>
              </a:rPr>
              <a:t>Execution Plan </a:t>
            </a:r>
            <a:endParaRPr lang="en-US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Algerian" panose="04020705040A02060702" pitchFamily="82" charset="0"/>
            </a:endParaRPr>
          </a:p>
          <a:p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Algerian" panose="04020705040A02060702" pitchFamily="82" charset="0"/>
              </a:rPr>
              <a:t>&amp;</a:t>
            </a:r>
            <a:endParaRPr lang="en-US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Algerian" panose="04020705040A02060702" pitchFamily="82" charset="0"/>
            </a:endParaRPr>
          </a:p>
          <a:p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Algerian" panose="04020705040A02060702" pitchFamily="82" charset="0"/>
              </a:rPr>
              <a:t>Closing</a:t>
            </a:r>
            <a:endParaRPr lang="en-US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38937" y="1975475"/>
            <a:ext cx="4226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8-Week Roadmap </a:t>
            </a:r>
            <a:endParaRPr lang="en-US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02630" y="4152122"/>
            <a:ext cx="1796142" cy="176348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Week 1-2</a:t>
            </a:r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dirty="0"/>
              <a:t>Data Pipelining +</a:t>
            </a:r>
            <a:endParaRPr lang="en-US" dirty="0"/>
          </a:p>
          <a:p>
            <a:pPr algn="ctr"/>
            <a:r>
              <a:rPr lang="en-US" dirty="0"/>
              <a:t>ML training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319866" y="3321643"/>
            <a:ext cx="1917439" cy="2640563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Week 3-4</a:t>
            </a:r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dirty="0" err="1"/>
              <a:t>Moblie</a:t>
            </a:r>
            <a:r>
              <a:rPr lang="en-US" dirty="0"/>
              <a:t>  App + </a:t>
            </a:r>
            <a:endParaRPr lang="en-US" dirty="0"/>
          </a:p>
          <a:p>
            <a:pPr algn="ctr"/>
            <a:r>
              <a:rPr lang="en-US" dirty="0"/>
              <a:t>Edge deployment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65703" y="2602182"/>
            <a:ext cx="1796142" cy="331342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Week 5-8</a:t>
            </a:r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dirty="0"/>
              <a:t>Testing,</a:t>
            </a:r>
            <a:endParaRPr lang="en-US" dirty="0"/>
          </a:p>
          <a:p>
            <a:pPr algn="ctr"/>
            <a:r>
              <a:rPr lang="en-US" dirty="0"/>
              <a:t>Dashboard </a:t>
            </a:r>
            <a:endParaRPr lang="en-US" dirty="0"/>
          </a:p>
          <a:p>
            <a:pPr algn="ctr"/>
            <a:r>
              <a:rPr lang="en-US" dirty="0"/>
              <a:t>&amp;</a:t>
            </a:r>
            <a:endParaRPr lang="en-US" dirty="0"/>
          </a:p>
          <a:p>
            <a:pPr algn="ctr"/>
            <a:r>
              <a:rPr lang="en-US" dirty="0"/>
              <a:t>Rollout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79616" y="3982419"/>
            <a:ext cx="3883868" cy="263149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300" dirty="0">
                <a:ln>
                  <a:solidFill>
                    <a:srgbClr val="00B050"/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Bodoni MT" panose="02070603080606020203" pitchFamily="18" charset="0"/>
              </a:rPr>
              <a:t>Our roadmap ensures a structured rollout from data collection to full development </a:t>
            </a:r>
            <a:endParaRPr lang="en-US" sz="3300" dirty="0">
              <a:ln>
                <a:solidFill>
                  <a:srgbClr val="00B050"/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Bodoni MT" panose="020706030806060202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49068" y="317241"/>
            <a:ext cx="1912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Inceptrix</a:t>
            </a: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2.0</a:t>
            </a:r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2246</Words>
  <Application>WPS Presentation</Application>
  <PresentationFormat>Widescreen</PresentationFormat>
  <Paragraphs>165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Algerian</vt:lpstr>
      <vt:lpstr>Bernard MT Condensed</vt:lpstr>
      <vt:lpstr>Arial Rounded MT Bold</vt:lpstr>
      <vt:lpstr>Bodoni MT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VIJESH</dc:creator>
  <cp:lastModifiedBy>Harihara Subramanian V</cp:lastModifiedBy>
  <cp:revision>21</cp:revision>
  <dcterms:created xsi:type="dcterms:W3CDTF">2026-01-09T16:05:00Z</dcterms:created>
  <dcterms:modified xsi:type="dcterms:W3CDTF">2026-01-26T17:43:33Z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DDAC12741BF746DC8537B05F917F436B_13</vt:lpwstr>
  </property>
  <property fmtid="{D5CDD505-2E9C-101B-9397-08002B2CF9AE}" pid="3" name="KSOProductBuildVer">
    <vt:lpwstr>2057-12.2.0.23197</vt:lpwstr>
  </property>
</Properties>
</file>